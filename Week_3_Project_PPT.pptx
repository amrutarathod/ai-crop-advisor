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64" r:id="rId5"/>
    <p:sldId id="259" r:id="rId6"/>
    <p:sldId id="260" r:id="rId7"/>
    <p:sldId id="261" r:id="rId8"/>
    <p:sldId id="263" r:id="rId9"/>
    <p:sldId id="262"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0" y="78"/>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3" Type="http://schemas.openxmlformats.org/officeDocument/2006/relationships/slide" Target="slides/slide2.xml" /><Relationship Id="rId222" Type="http://schemas.openxmlformats.org/officeDocument/2006/relationships/viewProps" Target="viewProps.xml" /><Relationship Id="rId7" Type="http://schemas.openxmlformats.org/officeDocument/2006/relationships/slide" Target="slides/slide6.xml" /><Relationship Id="rId2" Type="http://schemas.openxmlformats.org/officeDocument/2006/relationships/slide" Target="slides/slide1.xml" /><Relationship Id="rId221"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220" Type="http://customschemas.google.com/relationships/presentationmetadata" Target="metadata" /><Relationship Id="rId5" Type="http://schemas.openxmlformats.org/officeDocument/2006/relationships/slide" Target="slides/slide4.xml" /><Relationship Id="rId10" Type="http://schemas.openxmlformats.org/officeDocument/2006/relationships/slide" Target="slides/slide9.xml" /><Relationship Id="rId224"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22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7" Type="http://schemas.openxmlformats.org/officeDocument/2006/relationships/image" Target="../media/image2.jpg"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image" Target="../media/image1.png"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jpg" /><Relationship Id="rId1" Type="http://schemas.openxmlformats.org/officeDocument/2006/relationships/slideLayout" Target="../slideLayouts/slideLayout1.xml" /><Relationship Id="rId4" Type="http://schemas.openxmlformats.org/officeDocument/2006/relationships/image" Target="../media/image5.png" /></Relationships>
</file>

<file path=ppt/slides/_rels/slide2.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hyperlink" Target="https://www.freepik.com/" TargetMode="Externa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7.jpeg" /><Relationship Id="rId1" Type="http://schemas.openxmlformats.org/officeDocument/2006/relationships/slideLayout" Target="../slideLayouts/slideLayout1.xml" /><Relationship Id="rId4" Type="http://schemas.openxmlformats.org/officeDocument/2006/relationships/image" Target="../media/image9.jpe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51586" y="3429000"/>
            <a:ext cx="6870861" cy="646331"/>
          </a:xfrm>
          <a:prstGeom prst="rect">
            <a:avLst/>
          </a:prstGeom>
          <a:noFill/>
        </p:spPr>
        <p:txBody>
          <a:bodyPr wrap="square" rtlCol="0">
            <a:spAutoFit/>
          </a:bodyPr>
          <a:lstStyle/>
          <a:p>
            <a:pPr algn="r"/>
            <a:r>
              <a:rPr lang="en-US" sz="3600" b="1" dirty="0">
                <a:solidFill>
                  <a:schemeClr val="bg1"/>
                </a:solidFill>
                <a:latin typeface="Calibri" panose="020F0502020204030204" pitchFamily="34" charset="0"/>
                <a:cs typeface="Times New Roman" panose="02020603050405020304" pitchFamily="18" charset="0"/>
              </a:rPr>
              <a:t>Project Name : AI Crop Advisor</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3" name="TextBox 2">
            <a:extLst>
              <a:ext uri="{FF2B5EF4-FFF2-40B4-BE49-F238E27FC236}">
                <a16:creationId xmlns:a16="http://schemas.microsoft.com/office/drawing/2014/main" id="{0FA7CB3C-D602-05CE-4BA4-5849756689F4}"/>
              </a:ext>
            </a:extLst>
          </p:cNvPr>
          <p:cNvSpPr txBox="1"/>
          <p:nvPr/>
        </p:nvSpPr>
        <p:spPr>
          <a:xfrm>
            <a:off x="5468471" y="4075331"/>
            <a:ext cx="6275294" cy="1241622"/>
          </a:xfrm>
          <a:prstGeom prst="rect">
            <a:avLst/>
          </a:prstGeom>
          <a:noFill/>
        </p:spPr>
        <p:txBody>
          <a:bodyPr wrap="square" rtlCol="0">
            <a:spAutoFit/>
          </a:bodyPr>
          <a:lstStyle/>
          <a:p>
            <a:pPr algn="l"/>
            <a:r>
              <a:rPr lang="en-US" dirty="0">
                <a:solidFill>
                  <a:schemeClr val="bg1"/>
                </a:solidFill>
              </a:rPr>
              <a:t>The project aims to assist farmers in selecting the most suitable crop for cultivation by analyzing soil nutrients and environmental conditions using machine learning.</a:t>
            </a:r>
          </a:p>
          <a:p>
            <a:pPr algn="l"/>
            <a:endParaRPr lang="en-US" dirty="0"/>
          </a:p>
        </p:txBody>
      </p:sp>
      <p:sp>
        <p:nvSpPr>
          <p:cNvPr id="9" name="TextBox 8">
            <a:extLst>
              <a:ext uri="{FF2B5EF4-FFF2-40B4-BE49-F238E27FC236}">
                <a16:creationId xmlns:a16="http://schemas.microsoft.com/office/drawing/2014/main" id="{448528B3-4F87-385E-78F1-59B9F29163EA}"/>
              </a:ext>
            </a:extLst>
          </p:cNvPr>
          <p:cNvSpPr txBox="1"/>
          <p:nvPr/>
        </p:nvSpPr>
        <p:spPr>
          <a:xfrm>
            <a:off x="4572001" y="2565258"/>
            <a:ext cx="8337176" cy="1015663"/>
          </a:xfrm>
          <a:prstGeom prst="rect">
            <a:avLst/>
          </a:prstGeom>
          <a:noFill/>
        </p:spPr>
        <p:txBody>
          <a:bodyPr wrap="square" rtlCol="0">
            <a:spAutoFit/>
          </a:bodyPr>
          <a:lstStyle/>
          <a:p>
            <a:r>
              <a:rPr lang="en-US" sz="2000" b="1" i="0" dirty="0">
                <a:solidFill>
                  <a:schemeClr val="tx2"/>
                </a:solidFill>
                <a:effectLst/>
                <a:latin typeface="Poppins" pitchFamily="2" charset="0"/>
              </a:rPr>
              <a:t>Name                 : Amruta Rathod </a:t>
            </a:r>
          </a:p>
          <a:p>
            <a:r>
              <a:rPr lang="en-US" sz="2000" b="1" i="0" dirty="0">
                <a:solidFill>
                  <a:schemeClr val="tx2"/>
                </a:solidFill>
                <a:effectLst/>
                <a:latin typeface="Poppins" pitchFamily="2" charset="0"/>
              </a:rPr>
              <a:t>Internship ID : INTERNSHIP_17513641056863b20937d78</a:t>
            </a:r>
          </a:p>
          <a:p>
            <a:pPr algn="l"/>
            <a:endParaRPr lang="en-US" sz="2000" dirty="0"/>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712EECF0-F3D1-A596-D114-A58B28E216F4}"/>
              </a:ext>
            </a:extLst>
          </p:cNvPr>
          <p:cNvSpPr txBox="1"/>
          <p:nvPr/>
        </p:nvSpPr>
        <p:spPr>
          <a:xfrm>
            <a:off x="355600" y="1372647"/>
            <a:ext cx="6979922" cy="4976812"/>
          </a:xfrm>
          <a:prstGeom prst="rect">
            <a:avLst/>
          </a:prstGeom>
          <a:noFill/>
        </p:spPr>
        <p:txBody>
          <a:bodyPr wrap="square" rtlCol="0" anchor="t">
            <a:spAutoFit/>
          </a:bodyPr>
          <a:lstStyle/>
          <a:p>
            <a:pPr marL="342900" indent="-342900">
              <a:buFont typeface="Arial" panose="020B0604020202020204" pitchFamily="34" charset="0"/>
              <a:buChar char="•"/>
            </a:pPr>
            <a:r>
              <a:rPr lang="en-US" dirty="0"/>
              <a:t>To understand how machine learning can be applied in agriculture.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To build a model that predicts the most suitable crop using soil and weather parameters.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To evaluate the performance of the model using accuracy and classification reports.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To visualize the model’s performance using confusion matrix and feature importance graphs.</a:t>
            </a:r>
          </a:p>
          <a:p>
            <a:pPr marL="342900" indent="-342900">
              <a:buFont typeface="Arial" panose="020B0604020202020204" pitchFamily="34" charset="0"/>
              <a:buChar char="•"/>
            </a:pPr>
            <a:endParaRPr lang="en-US" dirty="0"/>
          </a:p>
          <a:p>
            <a:r>
              <a:rPr lang="en-US" dirty="0"/>
              <a:t>The goal of this project is to train and evaluate a machine learning model that recommends the best crop for a farmer based on soil nutrients (Nitrogen, Phosphorus, Potassium), pH, rainfall, temperature, and humidity.</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a:solidFill>
                  <a:srgbClr val="213163"/>
                </a:solidFill>
              </a:rPr>
              <a:t>ools and Technology used </a:t>
            </a:r>
          </a:p>
        </p:txBody>
      </p:sp>
      <p:sp>
        <p:nvSpPr>
          <p:cNvPr id="2" name="TextBox 1">
            <a:extLst>
              <a:ext uri="{FF2B5EF4-FFF2-40B4-BE49-F238E27FC236}">
                <a16:creationId xmlns:a16="http://schemas.microsoft.com/office/drawing/2014/main" id="{E2A0FCF8-9DE8-BC96-93CC-1ABDA086C5E4}"/>
              </a:ext>
            </a:extLst>
          </p:cNvPr>
          <p:cNvSpPr txBox="1"/>
          <p:nvPr/>
        </p:nvSpPr>
        <p:spPr>
          <a:xfrm>
            <a:off x="519953" y="1371578"/>
            <a:ext cx="9305364" cy="4114844"/>
          </a:xfrm>
          <a:prstGeom prst="rect">
            <a:avLst/>
          </a:prstGeom>
          <a:noFill/>
        </p:spPr>
        <p:txBody>
          <a:bodyPr wrap="square" rtlCol="0">
            <a:spAutoFit/>
          </a:bodyPr>
          <a:lstStyle/>
          <a:p>
            <a:pPr marL="342900" indent="-342900" algn="l">
              <a:buFont typeface="Arial" panose="020B0604020202020204" pitchFamily="34" charset="0"/>
              <a:buChar char="•"/>
            </a:pPr>
            <a:endParaRPr lang="en-US" dirty="0"/>
          </a:p>
          <a:p>
            <a:pPr algn="l"/>
            <a:r>
              <a:rPr lang="en-US" dirty="0"/>
              <a:t>Programming Language: Python </a:t>
            </a:r>
          </a:p>
          <a:p>
            <a:pPr algn="l"/>
            <a:endParaRPr lang="en-US" dirty="0"/>
          </a:p>
          <a:p>
            <a:pPr algn="l"/>
            <a:r>
              <a:rPr lang="en-US" dirty="0"/>
              <a:t>Libraries &amp; Packages:</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 Pandas, NumPy (for data handling)</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Scikit-learn (for model training &amp; evaluation)</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Matplotlib, Seaborn (for visualizations)</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Platform: Google Colab (coding and execution)</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Version Control: GitHub (project documentation &amp; code storage)</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A8EB2FA3-F353-7A80-AA7E-83B1A3070595}"/>
              </a:ext>
            </a:extLst>
          </p:cNvPr>
          <p:cNvSpPr txBox="1"/>
          <p:nvPr/>
        </p:nvSpPr>
        <p:spPr>
          <a:xfrm>
            <a:off x="484095" y="1414766"/>
            <a:ext cx="10632141" cy="5551456"/>
          </a:xfrm>
          <a:prstGeom prst="rect">
            <a:avLst/>
          </a:prstGeom>
          <a:noFill/>
        </p:spPr>
        <p:txBody>
          <a:bodyPr wrap="square" rtlCol="0">
            <a:spAutoFit/>
          </a:bodyPr>
          <a:lstStyle/>
          <a:p>
            <a:pPr algn="l"/>
            <a:r>
              <a:rPr lang="en-US" dirty="0"/>
              <a:t>The project was carried out in the following steps:</a:t>
            </a:r>
          </a:p>
          <a:p>
            <a:pPr algn="l"/>
            <a:endParaRPr lang="en-US" dirty="0"/>
          </a:p>
          <a:p>
            <a:pPr marL="457200" indent="-457200" algn="l">
              <a:buAutoNum type="arabicPeriod"/>
            </a:pPr>
            <a:r>
              <a:rPr lang="en-US" dirty="0"/>
              <a:t>Dataset Preparation</a:t>
            </a:r>
          </a:p>
          <a:p>
            <a:pPr marL="457200" indent="-457200" algn="l">
              <a:buAutoNum type="arabicPeriod"/>
            </a:pPr>
            <a:endParaRPr lang="en-US" dirty="0"/>
          </a:p>
          <a:p>
            <a:pPr marL="342900" indent="-342900" algn="l">
              <a:buFont typeface="Arial" panose="020B0604020202020204" pitchFamily="34" charset="0"/>
              <a:buChar char="•"/>
            </a:pPr>
            <a:r>
              <a:rPr lang="en-US" dirty="0"/>
              <a:t> A demo dataset was created with soil nutrients (N, P, K), pH, rainfall, temperature, and humidity as features. </a:t>
            </a:r>
          </a:p>
          <a:p>
            <a:pPr marL="342900" indent="-342900" algn="l">
              <a:buFont typeface="Arial" panose="020B0604020202020204" pitchFamily="34" charset="0"/>
              <a:buChar char="•"/>
            </a:pPr>
            <a:r>
              <a:rPr lang="en-US" dirty="0"/>
              <a:t>The target variable was the crop type (rice, wheat, maize, sugarcane, cotton, millet).</a:t>
            </a:r>
          </a:p>
          <a:p>
            <a:pPr algn="l"/>
            <a:endParaRPr lang="en-US" dirty="0"/>
          </a:p>
          <a:p>
            <a:pPr algn="l"/>
            <a:r>
              <a:rPr lang="en-US" dirty="0"/>
              <a:t>2. Data Splitting</a:t>
            </a:r>
          </a:p>
          <a:p>
            <a:pPr algn="l"/>
            <a:endParaRPr lang="en-US" dirty="0"/>
          </a:p>
          <a:p>
            <a:pPr marL="342900" indent="-342900" algn="l">
              <a:buFont typeface="Arial" panose="020B0604020202020204" pitchFamily="34" charset="0"/>
              <a:buChar char="•"/>
            </a:pPr>
            <a:r>
              <a:rPr lang="en-US" dirty="0"/>
              <a:t> The dataset was divided into training (70%) and testing (30%) sets using train_test_split.</a:t>
            </a:r>
          </a:p>
          <a:p>
            <a:pPr algn="l"/>
            <a:endParaRPr lang="en-US" dirty="0"/>
          </a:p>
          <a:p>
            <a:pPr algn="l"/>
            <a:r>
              <a:rPr lang="en-US" dirty="0"/>
              <a:t>3. Model Selection &amp; Training </a:t>
            </a:r>
          </a:p>
          <a:p>
            <a:pPr algn="l"/>
            <a:endParaRPr lang="en-US" dirty="0"/>
          </a:p>
          <a:p>
            <a:pPr marL="342900" indent="-342900" algn="l">
              <a:buFont typeface="Arial" panose="020B0604020202020204" pitchFamily="34" charset="0"/>
              <a:buChar char="•"/>
            </a:pPr>
            <a:r>
              <a:rPr lang="en-US" dirty="0"/>
              <a:t>A Random Forest Classifier was selected for Week 2 because it performs better than a simple Decision Tree by reducing overfitting. </a:t>
            </a:r>
          </a:p>
          <a:p>
            <a:pPr marL="342900" indent="-342900" algn="l">
              <a:buFont typeface="Arial" panose="020B0604020202020204" pitchFamily="34" charset="0"/>
              <a:buChar char="•"/>
            </a:pPr>
            <a:r>
              <a:rPr lang="en-US" dirty="0"/>
              <a:t>The model was trained on the training dataset.</a:t>
            </a:r>
          </a:p>
          <a:p>
            <a:pPr algn="l"/>
            <a:endParaRPr lang="en-US" dirty="0"/>
          </a:p>
          <a:p>
            <a:pPr algn="l"/>
            <a:endParaRPr lang="en-US" dirty="0"/>
          </a:p>
        </p:txBody>
      </p:sp>
    </p:spTree>
    <p:extLst>
      <p:ext uri="{BB962C8B-B14F-4D97-AF65-F5344CB8AC3E}">
        <p14:creationId xmlns:p14="http://schemas.microsoft.com/office/powerpoint/2010/main" val="2996515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A8EB2FA3-F353-7A80-AA7E-83B1A3070595}"/>
              </a:ext>
            </a:extLst>
          </p:cNvPr>
          <p:cNvSpPr txBox="1"/>
          <p:nvPr/>
        </p:nvSpPr>
        <p:spPr>
          <a:xfrm>
            <a:off x="466165" y="1775012"/>
            <a:ext cx="11259670" cy="4402167"/>
          </a:xfrm>
          <a:prstGeom prst="rect">
            <a:avLst/>
          </a:prstGeom>
          <a:noFill/>
        </p:spPr>
        <p:txBody>
          <a:bodyPr wrap="square" rtlCol="0">
            <a:spAutoFit/>
          </a:bodyPr>
          <a:lstStyle/>
          <a:p>
            <a:pPr algn="l"/>
            <a:r>
              <a:rPr lang="en-US" dirty="0"/>
              <a:t>4. Model Evaluation Predictions were made on the test dataset.</a:t>
            </a:r>
          </a:p>
          <a:p>
            <a:pPr algn="l"/>
            <a:endParaRPr lang="en-US" dirty="0"/>
          </a:p>
          <a:p>
            <a:pPr marL="342900" indent="-342900" algn="l">
              <a:buFont typeface="Arial" panose="020B0604020202020204" pitchFamily="34" charset="0"/>
              <a:buChar char="•"/>
            </a:pPr>
            <a:r>
              <a:rPr lang="en-US" dirty="0"/>
              <a:t>Model accuracy was calculated using accuracy_score.</a:t>
            </a:r>
          </a:p>
          <a:p>
            <a:pPr algn="l"/>
            <a:r>
              <a:rPr lang="en-US" dirty="0"/>
              <a:t>     Detailed evaluation was carried out using the classification_report.</a:t>
            </a:r>
          </a:p>
          <a:p>
            <a:pPr algn="l"/>
            <a:endParaRPr lang="en-US" dirty="0"/>
          </a:p>
          <a:p>
            <a:pPr algn="l"/>
            <a:r>
              <a:rPr lang="en-US" dirty="0"/>
              <a:t>5. Visualization A Confusion Matrix Heatmap was created to show the difference between actual and predicted values. </a:t>
            </a:r>
          </a:p>
          <a:p>
            <a:pPr algn="l"/>
            <a:endParaRPr lang="en-US" dirty="0"/>
          </a:p>
          <a:p>
            <a:pPr marL="342900" indent="-342900" algn="l">
              <a:buFont typeface="Arial" panose="020B0604020202020204" pitchFamily="34" charset="0"/>
              <a:buChar char="•"/>
            </a:pPr>
            <a:r>
              <a:rPr lang="en-US" dirty="0"/>
              <a:t>A Feature Importance Plot was generated to identify which soil and environmental factors influenced the model’s predictions the most.</a:t>
            </a:r>
          </a:p>
          <a:p>
            <a:pPr algn="l"/>
            <a:endParaRPr lang="en-US" dirty="0"/>
          </a:p>
          <a:p>
            <a:pPr algn="l"/>
            <a:r>
              <a:rPr lang="en-US" dirty="0"/>
              <a:t>6. Prediction with Sample Input Example farmer values were fed into the model. </a:t>
            </a:r>
          </a:p>
          <a:p>
            <a:pPr algn="l"/>
            <a:endParaRPr lang="en-US" dirty="0"/>
          </a:p>
          <a:p>
            <a:pPr marL="342900" indent="-342900" algn="l">
              <a:buFont typeface="Arial" panose="020B0604020202020204" pitchFamily="34" charset="0"/>
              <a:buChar char="•"/>
            </a:pPr>
            <a:r>
              <a:rPr lang="en-US" dirty="0"/>
              <a:t>The model successfully returned the recommended crop for the given soil and environmental parameters.</a:t>
            </a:r>
          </a:p>
        </p:txBody>
      </p:sp>
    </p:spTree>
    <p:extLst>
      <p:ext uri="{BB962C8B-B14F-4D97-AF65-F5344CB8AC3E}">
        <p14:creationId xmlns:p14="http://schemas.microsoft.com/office/powerpoint/2010/main" val="2706790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a:extLst>
              <a:ext uri="{FF2B5EF4-FFF2-40B4-BE49-F238E27FC236}">
                <a16:creationId xmlns:a16="http://schemas.microsoft.com/office/drawing/2014/main" id="{BB9FCFE6-1507-1116-29F5-4E7FD1420522}"/>
              </a:ext>
            </a:extLst>
          </p:cNvPr>
          <p:cNvSpPr txBox="1"/>
          <p:nvPr/>
        </p:nvSpPr>
        <p:spPr>
          <a:xfrm>
            <a:off x="708211" y="1750127"/>
            <a:ext cx="10910048" cy="3540200"/>
          </a:xfrm>
          <a:prstGeom prst="rect">
            <a:avLst/>
          </a:prstGeom>
          <a:noFill/>
        </p:spPr>
        <p:txBody>
          <a:bodyPr wrap="square" rtlCol="0">
            <a:spAutoFit/>
          </a:bodyPr>
          <a:lstStyle/>
          <a:p>
            <a:pPr algn="l"/>
            <a:r>
              <a:rPr lang="en-US" dirty="0"/>
              <a:t>Farmers often face uncertainty in crop selection due to lack of scientific knowledge about soil health and environmental factors. </a:t>
            </a:r>
          </a:p>
          <a:p>
            <a:pPr algn="l"/>
            <a:endParaRPr lang="en-US" dirty="0"/>
          </a:p>
          <a:p>
            <a:pPr algn="l"/>
            <a:r>
              <a:rPr lang="en-US" dirty="0"/>
              <a:t>This leads to:</a:t>
            </a:r>
          </a:p>
          <a:p>
            <a:pPr algn="l"/>
            <a:endParaRPr lang="en-US" dirty="0"/>
          </a:p>
          <a:p>
            <a:pPr marL="342900" indent="-342900" algn="l">
              <a:buFont typeface="Arial" panose="020B0604020202020204" pitchFamily="34" charset="0"/>
              <a:buChar char="•"/>
            </a:pPr>
            <a:r>
              <a:rPr lang="en-US" dirty="0"/>
              <a:t>Poor yield</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 Economic loss </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Unsustainable farming practices </a:t>
            </a:r>
          </a:p>
          <a:p>
            <a:pPr algn="l"/>
            <a:endParaRPr lang="en-US" dirty="0"/>
          </a:p>
          <a:p>
            <a:pPr algn="l"/>
            <a:r>
              <a:rPr lang="en-US" dirty="0"/>
              <a:t>Thus, there is a need for a data-driven solution that can help farmers make informed crop decisions.</a:t>
            </a:r>
          </a:p>
        </p:txBody>
      </p:sp>
    </p:spTree>
    <p:extLst>
      <p:ext uri="{BB962C8B-B14F-4D97-AF65-F5344CB8AC3E}">
        <p14:creationId xmlns:p14="http://schemas.microsoft.com/office/powerpoint/2010/main" val="31965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654078BA-42B8-EC3C-8999-1507F929FF66}"/>
              </a:ext>
            </a:extLst>
          </p:cNvPr>
          <p:cNvSpPr txBox="1"/>
          <p:nvPr/>
        </p:nvSpPr>
        <p:spPr>
          <a:xfrm>
            <a:off x="609599" y="1593867"/>
            <a:ext cx="9879106" cy="4402167"/>
          </a:xfrm>
          <a:prstGeom prst="rect">
            <a:avLst/>
          </a:prstGeom>
          <a:noFill/>
        </p:spPr>
        <p:txBody>
          <a:bodyPr wrap="square" rtlCol="0">
            <a:spAutoFit/>
          </a:bodyPr>
          <a:lstStyle/>
          <a:p>
            <a:pPr algn="l"/>
            <a:r>
              <a:rPr lang="en-US" dirty="0"/>
              <a:t>AI Crop Advisor solves this issue by:</a:t>
            </a:r>
          </a:p>
          <a:p>
            <a:pPr algn="l"/>
            <a:endParaRPr lang="en-US" dirty="0"/>
          </a:p>
          <a:p>
            <a:pPr marL="342900" indent="-342900" algn="l">
              <a:buFont typeface="Arial" panose="020B0604020202020204" pitchFamily="34" charset="0"/>
              <a:buChar char="•"/>
            </a:pPr>
            <a:r>
              <a:rPr lang="en-US" dirty="0"/>
              <a:t>Using machine learning to process soil and weather data. </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Recommending the best crop based on historical patterns and soil suitability.</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Providing scientific support to traditional farming practices.</a:t>
            </a:r>
          </a:p>
          <a:p>
            <a:pPr algn="l"/>
            <a:endParaRPr lang="en-US" dirty="0"/>
          </a:p>
          <a:p>
            <a:pPr algn="l"/>
            <a:r>
              <a:rPr lang="en-US" dirty="0"/>
              <a:t>This helps farmers achieve: </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Better productivity </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Higher profits</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Sustainable agriculture</a:t>
            </a:r>
          </a:p>
        </p:txBody>
      </p:sp>
    </p:spTree>
    <p:extLst>
      <p:ext uri="{BB962C8B-B14F-4D97-AF65-F5344CB8AC3E}">
        <p14:creationId xmlns:p14="http://schemas.microsoft.com/office/powerpoint/2010/main" val="300296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300A692F-7A38-E19E-F7AB-01F39A78AE2F}"/>
              </a:ext>
            </a:extLst>
          </p:cNvPr>
          <p:cNvSpPr txBox="1"/>
          <p:nvPr/>
        </p:nvSpPr>
        <p:spPr>
          <a:xfrm>
            <a:off x="5181600" y="2519082"/>
            <a:ext cx="1828800" cy="1828800"/>
          </a:xfrm>
          <a:prstGeom prst="rect">
            <a:avLst/>
          </a:prstGeom>
          <a:noFill/>
        </p:spPr>
        <p:txBody>
          <a:bodyPr wrap="square" rtlCol="0">
            <a:spAutoFit/>
          </a:bodyPr>
          <a:lstStyle/>
          <a:p>
            <a:pPr algn="l"/>
            <a:endParaRPr lang="en-US" dirty="0"/>
          </a:p>
        </p:txBody>
      </p:sp>
      <p:pic>
        <p:nvPicPr>
          <p:cNvPr id="4" name="Picture 3">
            <a:extLst>
              <a:ext uri="{FF2B5EF4-FFF2-40B4-BE49-F238E27FC236}">
                <a16:creationId xmlns:a16="http://schemas.microsoft.com/office/drawing/2014/main" id="{076AA304-A1CA-7239-B3F7-CEA4EE176A91}"/>
              </a:ext>
            </a:extLst>
          </p:cNvPr>
          <p:cNvPicPr>
            <a:picLocks noChangeAspect="1"/>
          </p:cNvPicPr>
          <p:nvPr/>
        </p:nvPicPr>
        <p:blipFill>
          <a:blip r:embed="rId2"/>
          <a:stretch>
            <a:fillRect/>
          </a:stretch>
        </p:blipFill>
        <p:spPr>
          <a:xfrm>
            <a:off x="362681" y="1880066"/>
            <a:ext cx="3796943" cy="3743325"/>
          </a:xfrm>
          <a:prstGeom prst="rect">
            <a:avLst/>
          </a:prstGeom>
        </p:spPr>
      </p:pic>
      <p:pic>
        <p:nvPicPr>
          <p:cNvPr id="6" name="Picture 5">
            <a:extLst>
              <a:ext uri="{FF2B5EF4-FFF2-40B4-BE49-F238E27FC236}">
                <a16:creationId xmlns:a16="http://schemas.microsoft.com/office/drawing/2014/main" id="{0B9E02DE-6AD2-B8C2-D457-13A858C349FA}"/>
              </a:ext>
            </a:extLst>
          </p:cNvPr>
          <p:cNvPicPr>
            <a:picLocks noChangeAspect="1"/>
          </p:cNvPicPr>
          <p:nvPr/>
        </p:nvPicPr>
        <p:blipFill>
          <a:blip r:embed="rId3"/>
          <a:stretch>
            <a:fillRect/>
          </a:stretch>
        </p:blipFill>
        <p:spPr>
          <a:xfrm>
            <a:off x="4016188" y="2268069"/>
            <a:ext cx="4159624" cy="2967317"/>
          </a:xfrm>
          <a:prstGeom prst="rect">
            <a:avLst/>
          </a:prstGeom>
        </p:spPr>
      </p:pic>
      <p:pic>
        <p:nvPicPr>
          <p:cNvPr id="7" name="Picture 6">
            <a:extLst>
              <a:ext uri="{FF2B5EF4-FFF2-40B4-BE49-F238E27FC236}">
                <a16:creationId xmlns:a16="http://schemas.microsoft.com/office/drawing/2014/main" id="{17266809-B298-6983-C846-8310FE62BDFD}"/>
              </a:ext>
            </a:extLst>
          </p:cNvPr>
          <p:cNvPicPr>
            <a:picLocks noChangeAspect="1"/>
          </p:cNvPicPr>
          <p:nvPr/>
        </p:nvPicPr>
        <p:blipFill>
          <a:blip r:embed="rId4"/>
          <a:stretch>
            <a:fillRect/>
          </a:stretch>
        </p:blipFill>
        <p:spPr>
          <a:xfrm>
            <a:off x="8216874" y="1258949"/>
            <a:ext cx="3612445" cy="5418667"/>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039F31B8-BBB4-6595-037B-A54076DD944F}"/>
              </a:ext>
            </a:extLst>
          </p:cNvPr>
          <p:cNvSpPr txBox="1"/>
          <p:nvPr/>
        </p:nvSpPr>
        <p:spPr>
          <a:xfrm>
            <a:off x="493059" y="1675132"/>
            <a:ext cx="11205882" cy="4402167"/>
          </a:xfrm>
          <a:prstGeom prst="rect">
            <a:avLst/>
          </a:prstGeom>
          <a:noFill/>
        </p:spPr>
        <p:txBody>
          <a:bodyPr wrap="square" rtlCol="0">
            <a:spAutoFit/>
          </a:bodyPr>
          <a:lstStyle/>
          <a:p>
            <a:pPr marL="342900" indent="-342900" algn="l">
              <a:buFont typeface="Arial" panose="020B0604020202020204" pitchFamily="34" charset="0"/>
              <a:buChar char="•"/>
            </a:pPr>
            <a:r>
              <a:rPr lang="en-US" dirty="0"/>
              <a:t>The AI Crop Advisor project was successfully completed and deployed in Week 3.
The trained Random Forest model was integrated into a user-friendly web application (Flask/Streamlit/Colab) for real-time crop recommendations.
Farmers can now input soil and weather parameters directly into the system and receive instant crop suggestions.
The deployment ensures that the model is not just theoretical but also practically usable for decision-making.
Project objectives were fully achieved — from dataset preparation, training, evaluation, visualization, to deployment.
 100% project completion achieved.</a:t>
            </a:r>
          </a:p>
          <a:p>
            <a:pPr marL="342900" indent="-342900" algn="l">
              <a:buFont typeface="Arial" panose="020B0604020202020204" pitchFamily="34" charset="0"/>
              <a:buChar char="•"/>
            </a:pPr>
            <a:endParaRPr lang="en-US" dirty="0"/>
          </a:p>
          <a:p>
            <a:pPr algn="l"/>
            <a:r>
              <a:rPr lang="en-US" dirty="0"/>
              <a:t>
 Future Scope: Integration of live weather APIs, larger agricultural datasets, and mobile app development for farmer accessibility.</a:t>
            </a:r>
          </a:p>
          <a:p>
            <a:pPr algn="l"/>
            <a:endParaRPr lang="en-US"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9</TotalTime>
  <Words>31</Words>
  <Application>Microsoft Office PowerPoint</Application>
  <PresentationFormat>Widescreen</PresentationFormat>
  <Paragraphs>11</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Amruta Rathod</cp:lastModifiedBy>
  <cp:revision>5</cp:revision>
  <dcterms:created xsi:type="dcterms:W3CDTF">2024-12-31T09:40:01Z</dcterms:created>
  <dcterms:modified xsi:type="dcterms:W3CDTF">2025-09-09T13:37:10Z</dcterms:modified>
</cp:coreProperties>
</file>